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9" r:id="rId5"/>
    <p:sldId id="270" r:id="rId6"/>
    <p:sldId id="262" r:id="rId7"/>
    <p:sldId id="271" r:id="rId8"/>
    <p:sldId id="27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24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7BFB4E-C21B-4FB8-8017-2B54DC696D1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9A40EC-5F5D-4B6B-8D66-6B63A011E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90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A40EC-5F5D-4B6B-8D66-6B63A011EE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138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A40EC-5F5D-4B6B-8D66-6B63A011EE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056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⚡ Resistor Power Rating in PCB Design 🛠️ Key Factors Influencing Resistor  Power Rating: ✓ Physical Dimensions and Materials ✓Ambient Temperature ✓  Mounting Techniques and Thermal Considerations 📖 Get the full breakdown">
            <a:extLst>
              <a:ext uri="{FF2B5EF4-FFF2-40B4-BE49-F238E27FC236}">
                <a16:creationId xmlns:a16="http://schemas.microsoft.com/office/drawing/2014/main" id="{BD920516-C162-4FC4-B3DD-156D9E98A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19229"/>
            <a:ext cx="11222831" cy="618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8681" y="2074533"/>
            <a:ext cx="106084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sz="4000" dirty="0">
                <a:solidFill>
                  <a:schemeClr val="accent1">
                    <a:lumMod val="75000"/>
                  </a:schemeClr>
                </a:solidFill>
              </a:rPr>
              <a:t>Millman’s Theorem &amp; Compensation Theorem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1914" y="2782419"/>
            <a:ext cx="4766498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rPr lang="en-US" sz="2800" dirty="0"/>
              <a:t>Fahmida Ahmed Antara</a:t>
            </a:r>
          </a:p>
          <a:p>
            <a:pPr>
              <a:defRPr sz="1300"/>
            </a:pPr>
            <a:r>
              <a:rPr lang="en-US" sz="2800" dirty="0"/>
              <a:t>Assistant Professor, dept. of IRE</a:t>
            </a:r>
            <a:endParaRPr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7454"/>
            <a:ext cx="34736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solidFill>
                  <a:schemeClr val="accent1">
                    <a:lumMod val="75000"/>
                  </a:schemeClr>
                </a:solidFill>
              </a:rPr>
              <a:t>Millman’s Theorem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59" y="1051560"/>
            <a:ext cx="643663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800"/>
              </a:spcAft>
              <a:buFont typeface="Wingdings" panose="05000000000000000000" pitchFamily="2" charset="2"/>
              <a:buChar char="Ø"/>
              <a:defRPr sz="1800"/>
            </a:pPr>
            <a:r>
              <a:rPr lang="en-US" sz="2400" dirty="0"/>
              <a:t>In Millman’s Theorem, the circuit is re-drawn as a parallel network of branches, each branch containing a resistor or series battery/resistor combination.</a:t>
            </a:r>
          </a:p>
          <a:p>
            <a:pPr marL="285750" indent="-285750" algn="just">
              <a:spcAft>
                <a:spcPts val="800"/>
              </a:spcAft>
              <a:buFont typeface="Wingdings" panose="05000000000000000000" pitchFamily="2" charset="2"/>
              <a:buChar char="Ø"/>
              <a:defRPr sz="1800"/>
            </a:pPr>
            <a:r>
              <a:rPr lang="en-US" sz="2400" dirty="0"/>
              <a:t>Millman’s Theorem is applicable only to those circuits which can be redrawn accordingly.</a:t>
            </a:r>
          </a:p>
          <a:p>
            <a:pPr marL="285750" indent="-285750" algn="just">
              <a:spcAft>
                <a:spcPts val="800"/>
              </a:spcAft>
              <a:buFont typeface="Wingdings" panose="05000000000000000000" pitchFamily="2" charset="2"/>
              <a:buChar char="Ø"/>
              <a:defRPr sz="1800"/>
            </a:pPr>
            <a:r>
              <a:rPr lang="en-US" sz="2400" dirty="0"/>
              <a:t>The circuit in fig. 1 can be redrawn as fig. 2 to apply Millman’s theorem.</a:t>
            </a:r>
          </a:p>
          <a:p>
            <a:pPr marL="285750" indent="-285750" algn="just">
              <a:spcAft>
                <a:spcPts val="800"/>
              </a:spcAft>
              <a:buFont typeface="Wingdings" panose="05000000000000000000" pitchFamily="2" charset="2"/>
              <a:buChar char="Ø"/>
              <a:defRPr sz="1800"/>
            </a:pPr>
            <a:r>
              <a:rPr lang="en-US" sz="2400" dirty="0"/>
              <a:t>By considering the supply voltage within each branch and the resistance within each branch, Millman’s Theorem will tell us the voltage across all branches. </a:t>
            </a:r>
            <a:endParaRPr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27D05D4-0646-4A68-A90A-37CA8ABC2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754" y="1096093"/>
            <a:ext cx="4407126" cy="209560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990F7AD-8347-48E8-95C7-AF18B9E93B05}"/>
              </a:ext>
            </a:extLst>
          </p:cNvPr>
          <p:cNvSpPr txBox="1"/>
          <p:nvPr/>
        </p:nvSpPr>
        <p:spPr>
          <a:xfrm>
            <a:off x="9017762" y="3279118"/>
            <a:ext cx="783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fig. 1 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BB3524-7908-43FF-8510-64FDFAC63FFD}"/>
              </a:ext>
            </a:extLst>
          </p:cNvPr>
          <p:cNvSpPr txBox="1"/>
          <p:nvPr/>
        </p:nvSpPr>
        <p:spPr>
          <a:xfrm>
            <a:off x="8928857" y="5869167"/>
            <a:ext cx="783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fig. 2 </a:t>
            </a:r>
            <a:endParaRPr lang="en-US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F19E37F-9211-4B08-AC21-4288F17BB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754" y="3663377"/>
            <a:ext cx="4229317" cy="219086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95834D7-004A-4215-963A-7CAE712067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2180967"/>
            <a:ext cx="311166" cy="3111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38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Cont.</a:t>
            </a:r>
            <a:endParaRPr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40080" y="1041975"/>
                <a:ext cx="10424160" cy="49937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spcAft>
                    <a:spcPts val="800"/>
                  </a:spcAft>
                  <a:buFont typeface="Wingdings" panose="05000000000000000000" pitchFamily="2" charset="2"/>
                  <a:buChar char="Ø"/>
                  <a:defRPr sz="1800"/>
                </a:pPr>
                <a:r>
                  <a:rPr lang="en-US" sz="2400" dirty="0"/>
                  <a:t>Millman’s Theorem is nothing more than a long equation, applied to any circuit drawn as a set of parallel-connected branches, each branch with its own voltage source and series resistance:</a:t>
                </a:r>
              </a:p>
              <a:p>
                <a:pPr marL="342900" indent="-342900" algn="just">
                  <a:spcAft>
                    <a:spcPts val="800"/>
                  </a:spcAft>
                  <a:buFont typeface="Wingdings" panose="05000000000000000000" pitchFamily="2" charset="2"/>
                  <a:buChar char="Ø"/>
                  <a:defRPr sz="1800"/>
                </a:pPr>
                <a:endParaRPr lang="en-US" sz="2400" dirty="0"/>
              </a:p>
              <a:p>
                <a:pPr marL="342900" indent="-342900" algn="just">
                  <a:spcAft>
                    <a:spcPts val="800"/>
                  </a:spcAft>
                  <a:buFont typeface="Wingdings" panose="05000000000000000000" pitchFamily="2" charset="2"/>
                  <a:buChar char="Ø"/>
                  <a:defRPr sz="1800"/>
                </a:pPr>
                <a:endParaRPr lang="en-US" sz="2400" dirty="0"/>
              </a:p>
              <a:p>
                <a:pPr marL="342900" indent="-342900" algn="just">
                  <a:spcAft>
                    <a:spcPts val="800"/>
                  </a:spcAft>
                  <a:buFont typeface="Wingdings" panose="05000000000000000000" pitchFamily="2" charset="2"/>
                  <a:buChar char="Ø"/>
                  <a:defRPr sz="1800"/>
                </a:pPr>
                <a:endParaRPr lang="en-US" sz="2400" dirty="0"/>
              </a:p>
              <a:p>
                <a:pPr marL="342900" indent="-342900" algn="just">
                  <a:spcAft>
                    <a:spcPts val="800"/>
                  </a:spcAft>
                  <a:buFont typeface="Wingdings" panose="05000000000000000000" pitchFamily="2" charset="2"/>
                  <a:buChar char="Ø"/>
                  <a:defRPr sz="1800"/>
                </a:pPr>
                <a:endParaRPr lang="en-US" sz="2400" dirty="0"/>
              </a:p>
              <a:p>
                <a:pPr algn="just">
                  <a:spcAft>
                    <a:spcPts val="800"/>
                  </a:spcAft>
                  <a:defRPr sz="1800"/>
                </a:pPr>
                <a:r>
                  <a:rPr lang="en-US" sz="2400" dirty="0"/>
                  <a:t>Putting values in the formula,</a:t>
                </a:r>
              </a:p>
              <a:p>
                <a:pPr algn="just">
                  <a:spcAft>
                    <a:spcPts val="800"/>
                  </a:spcAft>
                  <a:defRPr sz="18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𝑇h𝑒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𝑣𝑜𝑙𝑡𝑎𝑔𝑒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𝑎𝑐𝑟𝑜𝑠𝑠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𝑒𝑎𝑐h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𝑏𝑟𝑎𝑛𝑐h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28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=8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041975"/>
                <a:ext cx="10424160" cy="4993739"/>
              </a:xfrm>
              <a:prstGeom prst="rect">
                <a:avLst/>
              </a:prstGeom>
              <a:blipFill>
                <a:blip r:embed="rId2"/>
                <a:stretch>
                  <a:fillRect l="-877" t="-977" r="-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D11B49-DDA8-4CB2-97CD-FAF30E66C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359" y="1964323"/>
            <a:ext cx="4229317" cy="21908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74537E-C25F-49CD-A659-EB464CFA2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392" y="2418198"/>
            <a:ext cx="4978656" cy="14161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24D178-62E1-48F8-B097-C8B20C6D83E4}"/>
              </a:ext>
            </a:extLst>
          </p:cNvPr>
          <p:cNvSpPr txBox="1"/>
          <p:nvPr/>
        </p:nvSpPr>
        <p:spPr>
          <a:xfrm>
            <a:off x="9138921" y="4357980"/>
            <a:ext cx="783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fig. 2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7A8539-BD4A-4991-BAB6-E673F9CD180A}"/>
                  </a:ext>
                </a:extLst>
              </p:cNvPr>
              <p:cNvSpPr txBox="1"/>
              <p:nvPr/>
            </p:nvSpPr>
            <p:spPr>
              <a:xfrm>
                <a:off x="718236" y="1151598"/>
                <a:ext cx="6094970" cy="45104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800"/>
                  </a:spcAft>
                  <a:defRPr sz="1800"/>
                </a:pPr>
                <a:r>
                  <a:rPr lang="en-US" sz="1800" dirty="0"/>
                  <a:t>Let, the voltages across 4</a:t>
                </a:r>
                <a:r>
                  <a:rPr lang="el-GR" sz="1800" dirty="0"/>
                  <a:t>Ω, 2Ω </a:t>
                </a:r>
                <a:r>
                  <a:rPr lang="en-US" sz="1800" dirty="0"/>
                  <a:t>and 1</a:t>
                </a:r>
                <a:r>
                  <a:rPr lang="el-GR" sz="1800" dirty="0"/>
                  <a:t>Ω </a:t>
                </a:r>
                <a:r>
                  <a:rPr lang="en-US" sz="1800" dirty="0"/>
                  <a:t>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1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1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ar-AE" sz="1800" dirty="0"/>
              </a:p>
              <a:p>
                <a:pPr algn="just">
                  <a:spcAft>
                    <a:spcPts val="800"/>
                  </a:spcAft>
                  <a:defRPr sz="1800"/>
                </a:pPr>
                <a:r>
                  <a:rPr lang="en-US" sz="1800" dirty="0"/>
                  <a:t>Hence,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18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1800" b="0" i="0" smtClean="0">
                        <a:latin typeface="Cambria Math" panose="02040503050406030204" pitchFamily="18" charset="0"/>
                      </a:rPr>
                      <m:t>28</m:t>
                    </m:r>
                    <m:r>
                      <a:rPr lang="ar-AE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 b="0" i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US" sz="1800" b="0" dirty="0"/>
              </a:p>
              <a:p>
                <a:pPr algn="just">
                  <a:spcAft>
                    <a:spcPts val="800"/>
                  </a:spcAft>
                  <a:defRPr sz="18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b="0" dirty="0"/>
              </a:p>
              <a:p>
                <a:pPr algn="just">
                  <a:spcAft>
                    <a:spcPts val="800"/>
                  </a:spcAft>
                  <a:defRPr sz="1800"/>
                </a:pPr>
                <a:r>
                  <a:rPr lang="en-US" sz="1800" dirty="0"/>
                  <a:t>And,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sz="18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ar-AE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 b="0" i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US" sz="1800" dirty="0"/>
              </a:p>
              <a:p>
                <a:pPr algn="just">
                  <a:spcAft>
                    <a:spcPts val="800"/>
                  </a:spcAft>
                  <a:defRPr sz="18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b="0" dirty="0"/>
              </a:p>
              <a:p>
                <a:pPr algn="just">
                  <a:spcAft>
                    <a:spcPts val="800"/>
                  </a:spcAft>
                  <a:defRPr sz="1800"/>
                </a:pPr>
                <a:r>
                  <a:rPr lang="en-US" sz="1800" dirty="0"/>
                  <a:t>So, the circuit with the voltage polarity and current direction can be drawn as fig 3.</a:t>
                </a:r>
              </a:p>
              <a:p>
                <a:pPr algn="just">
                  <a:spcAft>
                    <a:spcPts val="800"/>
                  </a:spcAft>
                  <a:defRPr sz="18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ar-AE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800" b="0" dirty="0"/>
              </a:p>
              <a:p>
                <a:pPr algn="just">
                  <a:spcAft>
                    <a:spcPts val="800"/>
                  </a:spcAft>
                  <a:defRPr sz="18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800" dirty="0"/>
              </a:p>
              <a:p>
                <a:pPr algn="just">
                  <a:spcAft>
                    <a:spcPts val="800"/>
                  </a:spcAft>
                  <a:defRPr sz="18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ar-AE" sz="18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7A8539-BD4A-4991-BAB6-E673F9CD1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236" y="1151598"/>
                <a:ext cx="6094970" cy="4510466"/>
              </a:xfrm>
              <a:prstGeom prst="rect">
                <a:avLst/>
              </a:prstGeom>
              <a:blipFill>
                <a:blip r:embed="rId2"/>
                <a:stretch>
                  <a:fillRect l="-900" t="-811" r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9D12E6E-3584-4115-A70C-5EAF9DA5ED08}"/>
              </a:ext>
            </a:extLst>
          </p:cNvPr>
          <p:cNvSpPr txBox="1"/>
          <p:nvPr/>
        </p:nvSpPr>
        <p:spPr>
          <a:xfrm>
            <a:off x="640080" y="457200"/>
            <a:ext cx="109138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Cont.</a:t>
            </a:r>
            <a:endParaRPr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FD3E0D-2D7F-4D7F-9BFB-09DEC25CF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889" y="926355"/>
            <a:ext cx="4229317" cy="21908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4BCB64-E80A-43FE-A0ED-A8527A9BD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3047" y="3530764"/>
            <a:ext cx="4578585" cy="24766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C5A6CC-EE81-4B06-A640-DA96871C1F71}"/>
              </a:ext>
            </a:extLst>
          </p:cNvPr>
          <p:cNvSpPr txBox="1"/>
          <p:nvPr/>
        </p:nvSpPr>
        <p:spPr>
          <a:xfrm>
            <a:off x="9175992" y="3118892"/>
            <a:ext cx="783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fig. 2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D591AA-9D19-4FC8-A4BB-2C519E28515F}"/>
              </a:ext>
            </a:extLst>
          </p:cNvPr>
          <p:cNvSpPr txBox="1"/>
          <p:nvPr/>
        </p:nvSpPr>
        <p:spPr>
          <a:xfrm>
            <a:off x="9320412" y="5956066"/>
            <a:ext cx="783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fig. </a:t>
            </a:r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25332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D53773-8365-4CB9-A50E-25EECD0369BF}"/>
              </a:ext>
            </a:extLst>
          </p:cNvPr>
          <p:cNvSpPr txBox="1"/>
          <p:nvPr/>
        </p:nvSpPr>
        <p:spPr>
          <a:xfrm>
            <a:off x="640080" y="457200"/>
            <a:ext cx="196399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Example-2</a:t>
            </a:r>
            <a:endParaRPr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D05E35E-EA5C-4658-B215-7A2A50A7B465}"/>
                  </a:ext>
                </a:extLst>
              </p:cNvPr>
              <p:cNvSpPr txBox="1"/>
              <p:nvPr/>
            </p:nvSpPr>
            <p:spPr>
              <a:xfrm>
                <a:off x="640079" y="1042660"/>
                <a:ext cx="1035125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AutoNum type="alphaLcParenBoth"/>
                </a:pPr>
                <a:r>
                  <a:rPr lang="en-US" dirty="0"/>
                  <a:t>Find the load current,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of the following circuit using Millman’s  theorem.</a:t>
                </a:r>
              </a:p>
              <a:p>
                <a:pPr marL="342900" indent="-342900">
                  <a:buAutoNum type="alphaLcParenBoth"/>
                </a:pPr>
                <a:r>
                  <a:rPr lang="en-US" dirty="0"/>
                  <a:t>Repeat question (a) if the load resistance is 18 Ω.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D05E35E-EA5C-4658-B215-7A2A50A7B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" y="1042660"/>
                <a:ext cx="10351255" cy="646331"/>
              </a:xfrm>
              <a:prstGeom prst="rect">
                <a:avLst/>
              </a:prstGeom>
              <a:blipFill>
                <a:blip r:embed="rId2"/>
                <a:stretch>
                  <a:fillRect l="-471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638EEC4-7074-4D29-BE2D-61D7AE527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836" y="1673912"/>
            <a:ext cx="3530781" cy="16383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68EB4B-6431-4DA4-8FCA-3BCECBBC067A}"/>
                  </a:ext>
                </a:extLst>
              </p:cNvPr>
              <p:cNvSpPr txBox="1"/>
              <p:nvPr/>
            </p:nvSpPr>
            <p:spPr>
              <a:xfrm>
                <a:off x="640079" y="3312296"/>
                <a:ext cx="10233866" cy="2887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parallel branches except the load resistance can be replaced by a voltage source,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connected with a resistance,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dirty="0"/>
                  <a:t> in series applying Millman’s theorem.</a:t>
                </a:r>
              </a:p>
              <a:p>
                <a:endParaRPr lang="en-US" dirty="0"/>
              </a:p>
              <a:p>
                <a:r>
                  <a:rPr lang="en-US" dirty="0"/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64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And,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55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b="0" i="1" dirty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dirty="0"/>
              </a:p>
              <a:p>
                <a:pPr marL="342900" indent="-342900">
                  <a:buAutoNum type="alphaLcParenBoth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55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155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marL="342900" indent="-342900">
                  <a:buAutoNum type="alphaLcParenBoth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55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088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68EB4B-6431-4DA4-8FCA-3BCECBBC0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" y="3312296"/>
                <a:ext cx="10233866" cy="2887585"/>
              </a:xfrm>
              <a:prstGeom prst="rect">
                <a:avLst/>
              </a:prstGeom>
              <a:blipFill>
                <a:blip r:embed="rId4"/>
                <a:stretch>
                  <a:fillRect l="-476" t="-10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8B1A280D-D7CB-4084-97FF-E332F6CD16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6987" y="3836564"/>
            <a:ext cx="2190863" cy="163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85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829137" y="1124465"/>
                <a:ext cx="10557613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800"/>
                  </a:spcAft>
                  <a:defRPr sz="1800"/>
                </a:pPr>
                <a:r>
                  <a:rPr lang="en-US" sz="2000" dirty="0"/>
                  <a:t>Compensation Theorem states that in a linear time-invariant network when the  resistance (R) of an uncoupled branch, carrying a current (I), is changed by (</a:t>
                </a:r>
                <a:r>
                  <a:rPr lang="el-GR" sz="2000" dirty="0"/>
                  <a:t>Δ</a:t>
                </a:r>
                <a:r>
                  <a:rPr lang="en-US" sz="2000" dirty="0"/>
                  <a:t>R), then the currents in all the branches would change and can be obtained by assuming that an ideal voltage source of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000" dirty="0"/>
                  <a:t>)</a:t>
                </a:r>
                <a:r>
                  <a:rPr lang="ar-AE" sz="2000" dirty="0"/>
                  <a:t> </a:t>
                </a:r>
                <a:r>
                  <a:rPr lang="en-US" sz="2000" dirty="0"/>
                  <a:t>has been connected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l-GR" sz="2000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/>
                  <a:t>in series with (R + </a:t>
                </a:r>
                <a:r>
                  <a:rPr lang="el-GR" sz="2000" dirty="0"/>
                  <a:t>Δ</a:t>
                </a:r>
                <a:r>
                  <a:rPr lang="en-US" sz="2000" dirty="0"/>
                  <a:t>R) when all other independent sources in the network are inactive.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37" y="1124465"/>
                <a:ext cx="10557613" cy="1631216"/>
              </a:xfrm>
              <a:prstGeom prst="rect">
                <a:avLst/>
              </a:prstGeom>
              <a:blipFill>
                <a:blip r:embed="rId3"/>
                <a:stretch>
                  <a:fillRect l="-577" t="-1866" r="-635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0DEDCF-0284-491C-B288-C6DE7240D5EB}"/>
              </a:ext>
            </a:extLst>
          </p:cNvPr>
          <p:cNvSpPr txBox="1"/>
          <p:nvPr/>
        </p:nvSpPr>
        <p:spPr>
          <a:xfrm>
            <a:off x="640080" y="457200"/>
            <a:ext cx="42751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Compensation Theorem</a:t>
            </a:r>
            <a:endParaRPr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93A285-7E2A-42A0-A833-185668905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34" y="2891481"/>
            <a:ext cx="3552576" cy="19992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714147-4640-4C56-AA14-D8BCF5AF45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6862" y="2891481"/>
            <a:ext cx="3544562" cy="19473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0650DD-762A-4020-ACDB-8B3527399D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2688" y="2838171"/>
            <a:ext cx="2867774" cy="20671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EE3342-D198-4D83-B045-8D60CF665E97}"/>
              </a:ext>
            </a:extLst>
          </p:cNvPr>
          <p:cNvSpPr txBox="1"/>
          <p:nvPr/>
        </p:nvSpPr>
        <p:spPr>
          <a:xfrm>
            <a:off x="640080" y="457200"/>
            <a:ext cx="196399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Example-3</a:t>
            </a:r>
            <a:endParaRPr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3B2513-C361-4B89-B9E3-878BE78C7BE8}"/>
              </a:ext>
            </a:extLst>
          </p:cNvPr>
          <p:cNvSpPr txBox="1"/>
          <p:nvPr/>
        </p:nvSpPr>
        <p:spPr>
          <a:xfrm>
            <a:off x="640079" y="1021551"/>
            <a:ext cx="104562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the network shown in following figure, the resistance R is changed from 4</a:t>
            </a:r>
            <a:r>
              <a:rPr lang="el-GR" dirty="0"/>
              <a:t>Ω</a:t>
            </a:r>
            <a:r>
              <a:rPr lang="en-US" dirty="0"/>
              <a:t>  to 2</a:t>
            </a:r>
            <a:r>
              <a:rPr lang="el-GR" dirty="0"/>
              <a:t>Ω</a:t>
            </a:r>
            <a:r>
              <a:rPr lang="en-US" dirty="0"/>
              <a:t>. Verify the compensation theorem.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F6F971-0CDE-4142-827D-042AF5EA1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628" y="1622218"/>
            <a:ext cx="3333921" cy="133991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785BD8-630C-4808-87B9-B165FF7CE902}"/>
                  </a:ext>
                </a:extLst>
              </p:cNvPr>
              <p:cNvSpPr txBox="1"/>
              <p:nvPr/>
            </p:nvSpPr>
            <p:spPr>
              <a:xfrm>
                <a:off x="451022" y="3070654"/>
                <a:ext cx="11009870" cy="26503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When,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nor/>
                      </m:rPr>
                      <a:rPr lang="el-GR" dirty="0"/>
                      <m:t>Ω</m:t>
                    </m:r>
                  </m:oMath>
                </a14:m>
                <a:r>
                  <a:rPr lang="en-US" dirty="0"/>
                  <a:t>, the current,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through it=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After changing the R= 2</a:t>
                </a:r>
                <a:r>
                  <a:rPr lang="el-GR" dirty="0"/>
                  <a:t> Ω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l-GR" dirty="0"/>
                      <m:t>Ω</m:t>
                    </m:r>
                  </m:oMath>
                </a14:m>
                <a:endParaRPr lang="en-US" dirty="0"/>
              </a:p>
              <a:p>
                <a:r>
                  <a:rPr lang="en-US" dirty="0"/>
                  <a:t>Hence,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According to compensation theorem, the circuit can be redrawn as follows-</a:t>
                </a:r>
              </a:p>
              <a:p>
                <a:r>
                  <a:rPr lang="en-US" dirty="0"/>
                  <a:t>Now,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You can verify the answer by solving the original circuit using KVL.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785BD8-630C-4808-87B9-B165FF7CE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22" y="3070654"/>
                <a:ext cx="11009870" cy="2650341"/>
              </a:xfrm>
              <a:prstGeom prst="rect">
                <a:avLst/>
              </a:prstGeom>
              <a:blipFill>
                <a:blip r:embed="rId3"/>
                <a:stretch>
                  <a:fillRect l="-498" b="-2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F4F90C76-778D-4F2F-A3F9-45E504F7C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21" y="4164696"/>
            <a:ext cx="3048157" cy="179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130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126AC8-928C-4E67-81AD-1CE01F065E8C}"/>
              </a:ext>
            </a:extLst>
          </p:cNvPr>
          <p:cNvSpPr txBox="1"/>
          <p:nvPr/>
        </p:nvSpPr>
        <p:spPr>
          <a:xfrm>
            <a:off x="908221" y="2644170"/>
            <a:ext cx="105217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96494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imes New Roman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548</Words>
  <Application>Microsoft Office PowerPoint</Application>
  <PresentationFormat>Widescreen</PresentationFormat>
  <Paragraphs>59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Fahmida Ahmed Antara</cp:lastModifiedBy>
  <cp:revision>14</cp:revision>
  <dcterms:created xsi:type="dcterms:W3CDTF">2013-01-27T09:14:16Z</dcterms:created>
  <dcterms:modified xsi:type="dcterms:W3CDTF">2026-09-03T16:21:18Z</dcterms:modified>
  <cp:category/>
</cp:coreProperties>
</file>